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91440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KQg28+uPKHmBP58rjgNuwKb6y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785EA2-89BE-4DEF-9177-1315307101E5}">
  <a:tblStyle styleId="{9F785EA2-89BE-4DEF-9177-1315307101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8ddfe26e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b8ddfe26e9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8ddfe26e9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8ddfe26e9_3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ddfe26e9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b8ddfe26e9_3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8ddfe26e9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8ddfe26e9_3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959550"/>
            <a:ext cx="8229600" cy="24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759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personalizar ofertas para aumentar conversão e valor?</a:t>
            </a:r>
            <a:endParaRPr b="1" sz="20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3309475"/>
            <a:ext cx="82296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Ofertas atualmente pouco personalizadas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 respondem melhor a diferentes tipos de oferta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decidir qual oferta enviar para cada 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liente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Foco em maximizar conversão</a:t>
            </a:r>
            <a:endParaRPr sz="2400"/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475" y="-129650"/>
            <a:ext cx="1223525" cy="12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185200" y="6356100"/>
            <a:ext cx="51546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6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Rodrigo Caetano Batista - Janeiro/26</a:t>
            </a:r>
            <a:endParaRPr b="1" sz="20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ddfe26e9_3_0"/>
          <p:cNvSpPr txBox="1"/>
          <p:nvPr>
            <p:ph type="title"/>
          </p:nvPr>
        </p:nvSpPr>
        <p:spPr>
          <a:xfrm>
            <a:off x="209176" y="573475"/>
            <a:ext cx="8229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16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 de conversão específico para cada cliente</a:t>
            </a:r>
            <a:endParaRPr b="1" sz="31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1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b8ddfe26e9_3_0"/>
          <p:cNvSpPr txBox="1"/>
          <p:nvPr/>
        </p:nvSpPr>
        <p:spPr>
          <a:xfrm>
            <a:off x="0" y="346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Estratégia proposta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4" name="Google Shape;94;g3b8ddfe26e9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475" y="-129650"/>
            <a:ext cx="1223525" cy="12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b8ddfe26e9_3_0"/>
          <p:cNvSpPr/>
          <p:nvPr/>
        </p:nvSpPr>
        <p:spPr>
          <a:xfrm>
            <a:off x="799000" y="3084000"/>
            <a:ext cx="1890300" cy="849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Features do cliente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b8ddfe26e9_3_0"/>
          <p:cNvSpPr/>
          <p:nvPr/>
        </p:nvSpPr>
        <p:spPr>
          <a:xfrm>
            <a:off x="6454700" y="3338500"/>
            <a:ext cx="1890300" cy="1617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Probabilidade de conversão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g3b8ddfe26e9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488" y="3281962"/>
            <a:ext cx="1731000" cy="173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b8ddfe26e9_3_0"/>
          <p:cNvSpPr txBox="1"/>
          <p:nvPr>
            <p:ph idx="1" type="body"/>
          </p:nvPr>
        </p:nvSpPr>
        <p:spPr>
          <a:xfrm>
            <a:off x="457200" y="5539625"/>
            <a:ext cx="82296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100"/>
              <a:t>Enquanto as features do cliente ficam fixas, as features da oferta serão alteradas até encontrarmos a que tem maior </a:t>
            </a:r>
            <a:r>
              <a:rPr lang="en-US" sz="2100"/>
              <a:t>probabilidade</a:t>
            </a:r>
            <a:r>
              <a:rPr lang="en-US" sz="2100"/>
              <a:t> de conversão, e essa que vamos enviar</a:t>
            </a:r>
            <a:endParaRPr sz="21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99" name="Google Shape;99;g3b8ddfe26e9_3_0"/>
          <p:cNvSpPr txBox="1"/>
          <p:nvPr>
            <p:ph idx="1" type="body"/>
          </p:nvPr>
        </p:nvSpPr>
        <p:spPr>
          <a:xfrm>
            <a:off x="292850" y="1766400"/>
            <a:ext cx="8229600" cy="1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Criação de um modelo com base em dados históricos para prever a probabilidade de conversão de cada cliente tendo em vista cada oferta.</a:t>
            </a:r>
            <a:endParaRPr sz="2100"/>
          </a:p>
          <a:p>
            <a:pPr indent="-2730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As ofertas podem ser:</a:t>
            </a:r>
            <a:endParaRPr sz="2300"/>
          </a:p>
        </p:txBody>
      </p:sp>
      <p:sp>
        <p:nvSpPr>
          <p:cNvPr id="100" name="Google Shape;100;g3b8ddfe26e9_3_0"/>
          <p:cNvSpPr/>
          <p:nvPr/>
        </p:nvSpPr>
        <p:spPr>
          <a:xfrm>
            <a:off x="799000" y="4316900"/>
            <a:ext cx="1890300" cy="849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Helvetica Neue"/>
                <a:ea typeface="Helvetica Neue"/>
                <a:cs typeface="Helvetica Neue"/>
                <a:sym typeface="Helvetica Neue"/>
              </a:rPr>
              <a:t>Features da oferta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1" name="Google Shape;101;g3b8ddfe26e9_3_0"/>
          <p:cNvCxnSpPr>
            <a:stCxn id="95" idx="3"/>
            <a:endCxn id="97" idx="1"/>
          </p:cNvCxnSpPr>
          <p:nvPr/>
        </p:nvCxnSpPr>
        <p:spPr>
          <a:xfrm>
            <a:off x="2689300" y="3508500"/>
            <a:ext cx="1017300" cy="63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g3b8ddfe26e9_3_0"/>
          <p:cNvCxnSpPr>
            <a:stCxn id="100" idx="3"/>
            <a:endCxn id="97" idx="1"/>
          </p:cNvCxnSpPr>
          <p:nvPr/>
        </p:nvCxnSpPr>
        <p:spPr>
          <a:xfrm flipH="1" rot="10800000">
            <a:off x="2689300" y="4147400"/>
            <a:ext cx="1017300" cy="59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g3b8ddfe26e9_3_0"/>
          <p:cNvCxnSpPr>
            <a:stCxn id="97" idx="3"/>
            <a:endCxn id="96" idx="1"/>
          </p:cNvCxnSpPr>
          <p:nvPr/>
        </p:nvCxnSpPr>
        <p:spPr>
          <a:xfrm>
            <a:off x="5437488" y="4147463"/>
            <a:ext cx="1017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8ddfe26e9_3_16"/>
          <p:cNvSpPr/>
          <p:nvPr/>
        </p:nvSpPr>
        <p:spPr>
          <a:xfrm>
            <a:off x="5141400" y="1900850"/>
            <a:ext cx="4002600" cy="4646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cliente possui 87% de chance de conversão com as variáveis otimizadas.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valores ótimos são: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oferta: “desconto”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mínimo: 10 reais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Duração: 10 segundos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Desconto: 2 reais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8ddfe26e9_3_16"/>
          <p:cNvSpPr txBox="1"/>
          <p:nvPr>
            <p:ph type="title"/>
          </p:nvPr>
        </p:nvSpPr>
        <p:spPr>
          <a:xfrm>
            <a:off x="209176" y="573475"/>
            <a:ext cx="8229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16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Cliente específico</a:t>
            </a:r>
            <a:endParaRPr b="1" sz="31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g3b8ddfe26e9_3_16"/>
          <p:cNvSpPr txBox="1"/>
          <p:nvPr/>
        </p:nvSpPr>
        <p:spPr>
          <a:xfrm>
            <a:off x="0" y="346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" name="Google Shape;111;g3b8ddfe26e9_3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475" y="-129650"/>
            <a:ext cx="1223525" cy="12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b8ddfe26e9_3_16"/>
          <p:cNvSpPr txBox="1"/>
          <p:nvPr/>
        </p:nvSpPr>
        <p:spPr>
          <a:xfrm>
            <a:off x="209175" y="1561575"/>
            <a:ext cx="4648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do cliente (seguindo a ordem de importância para o modelo):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g3b8ddfe26e9_3_16"/>
          <p:cNvGraphicFramePr/>
          <p:nvPr/>
        </p:nvGraphicFramePr>
        <p:xfrm>
          <a:off x="378150" y="243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{9F785EA2-89BE-4DEF-9177-1315307101E5}</a:tableStyleId>
              </a:tblPr>
              <a:tblGrid>
                <a:gridCol w="2737975"/>
                <a:gridCol w="1572575"/>
              </a:tblGrid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Tempo de relacionamento com iFood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823 dias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Limite do cartão de crédito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72000.0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Idade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64 anos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Gênero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Feminino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Número de ofertas vistas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oferta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114" name="Google Shape;114;g3b8ddfe26e9_3_16"/>
          <p:cNvSpPr txBox="1"/>
          <p:nvPr/>
        </p:nvSpPr>
        <p:spPr>
          <a:xfrm>
            <a:off x="209175" y="4627500"/>
            <a:ext cx="464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Variáveis da oferta (otimizadas):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g3b8ddfe26e9_3_16"/>
          <p:cNvGraphicFramePr/>
          <p:nvPr/>
        </p:nvGraphicFramePr>
        <p:xfrm>
          <a:off x="378150" y="515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{9F785EA2-89BE-4DEF-9177-1315307101E5}</a:tableStyleId>
              </a:tblPr>
              <a:tblGrid>
                <a:gridCol w="2737975"/>
              </a:tblGrid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Tipo de oferta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Valor mínimo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Duração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Desconto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ddfe26e9_3_37"/>
          <p:cNvSpPr txBox="1"/>
          <p:nvPr>
            <p:ph type="title"/>
          </p:nvPr>
        </p:nvSpPr>
        <p:spPr>
          <a:xfrm>
            <a:off x="209175" y="573475"/>
            <a:ext cx="77112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16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modelo aumenta as conversões em 14% em relação ao modelo atual</a:t>
            </a:r>
            <a:endParaRPr b="1" sz="31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b8ddfe26e9_3_37"/>
          <p:cNvSpPr txBox="1"/>
          <p:nvPr/>
        </p:nvSpPr>
        <p:spPr>
          <a:xfrm>
            <a:off x="0" y="34675"/>
            <a:ext cx="393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e impacto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2" name="Google Shape;122;g3b8ddfe26e9_3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475" y="-129650"/>
            <a:ext cx="1223525" cy="12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b8ddfe26e9_3_37"/>
          <p:cNvSpPr txBox="1"/>
          <p:nvPr>
            <p:ph idx="1" type="body"/>
          </p:nvPr>
        </p:nvSpPr>
        <p:spPr>
          <a:xfrm>
            <a:off x="457200" y="2080181"/>
            <a:ext cx="8229600" cy="3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/>
              <a:t>A comparação foi feita com a conversão atual, que é 78%.</a:t>
            </a:r>
            <a:endParaRPr sz="2100"/>
          </a:p>
          <a:p>
            <a:pPr indent="-2730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Com o novo modelo em produção, a conversão subiria para 89%, um aumento de 14%.</a:t>
            </a:r>
            <a:endParaRPr sz="2100"/>
          </a:p>
          <a:p>
            <a:pPr indent="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27305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Principais motivos da melhoria:</a:t>
            </a:r>
            <a:endParaRPr sz="2100"/>
          </a:p>
          <a:p>
            <a:pPr indent="-304800" lvl="1" marL="74295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Modelo individualizado que leva em conta características do cliente;</a:t>
            </a:r>
            <a:endParaRPr sz="2100"/>
          </a:p>
          <a:p>
            <a:pPr indent="-304800" lvl="1" marL="74295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Otimização da oferta específica para cada perfil de clientes.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ddfe26e9_3_30"/>
          <p:cNvSpPr txBox="1"/>
          <p:nvPr>
            <p:ph type="title"/>
          </p:nvPr>
        </p:nvSpPr>
        <p:spPr>
          <a:xfrm>
            <a:off x="209175" y="815525"/>
            <a:ext cx="38265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16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Próximos passos</a:t>
            </a:r>
            <a:endParaRPr b="1" sz="31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3b8ddfe26e9_3_30"/>
          <p:cNvSpPr txBox="1"/>
          <p:nvPr/>
        </p:nvSpPr>
        <p:spPr>
          <a:xfrm>
            <a:off x="0" y="346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0" name="Google Shape;130;g3b8ddfe26e9_3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475" y="-129650"/>
            <a:ext cx="1223525" cy="12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8ddfe26e9_3_30"/>
          <p:cNvSpPr txBox="1"/>
          <p:nvPr/>
        </p:nvSpPr>
        <p:spPr>
          <a:xfrm>
            <a:off x="0" y="1604575"/>
            <a:ext cx="4245000" cy="4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Validação da proposta e modelo com o time de negócios;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o modelo em produção;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Discussão da criação de um grupo controle para dados de performance e treinamento de novos modelos.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b8ddfe26e9_3_30"/>
          <p:cNvSpPr txBox="1"/>
          <p:nvPr>
            <p:ph type="title"/>
          </p:nvPr>
        </p:nvSpPr>
        <p:spPr>
          <a:xfrm>
            <a:off x="4900650" y="815525"/>
            <a:ext cx="38265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16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Melhorias futuras</a:t>
            </a:r>
            <a:endParaRPr b="1" sz="316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3" name="Google Shape;133;g3b8ddfe26e9_3_30"/>
          <p:cNvCxnSpPr/>
          <p:nvPr/>
        </p:nvCxnSpPr>
        <p:spPr>
          <a:xfrm>
            <a:off x="4572000" y="1407800"/>
            <a:ext cx="0" cy="457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g3b8ddfe26e9_3_30"/>
          <p:cNvSpPr txBox="1"/>
          <p:nvPr/>
        </p:nvSpPr>
        <p:spPr>
          <a:xfrm>
            <a:off x="4736400" y="1604575"/>
            <a:ext cx="4334700" cy="4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Medição 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impacto em R$ (não foi possível com o dataset fornecido);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 de novas features e outros algoritmos;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Consideração de custos operacionais do envio de ofertas, impacto da frequência e fidelização do cliente.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